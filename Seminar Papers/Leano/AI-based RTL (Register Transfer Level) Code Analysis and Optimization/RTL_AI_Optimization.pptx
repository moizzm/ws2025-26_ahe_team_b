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4"/>
    <p:sldId id="258" r:id="rId5"/>
    <p:sldId id="259" r:id="rId6"/>
    <p:sldId id="269" r:id="rId7"/>
    <p:sldId id="270" r:id="rId8"/>
    <p:sldId id="271" r:id="rId9"/>
    <p:sldId id="260" r:id="rId10"/>
    <p:sldId id="272" r:id="rId11"/>
    <p:sldId id="275" r:id="rId12"/>
    <p:sldId id="273" r:id="rId13"/>
    <p:sldId id="261" r:id="rId14"/>
    <p:sldId id="276" r:id="rId15"/>
    <p:sldId id="262" r:id="rId16"/>
    <p:sldId id="277" r:id="rId17"/>
    <p:sldId id="263" r:id="rId18"/>
    <p:sldId id="264" r:id="rId19"/>
    <p:sldId id="278" r:id="rId20"/>
    <p:sldId id="279" r:id="rId21"/>
    <p:sldId id="280" r:id="rId22"/>
    <p:sldId id="281" r:id="rId23"/>
    <p:sldId id="282" r:id="rId24"/>
    <p:sldId id="265" r:id="rId25"/>
    <p:sldId id="266" r:id="rId26"/>
    <p:sldId id="267" r:id="rId27"/>
    <p:sldId id="268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08" y="10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5C9DE4-6A6F-4E02-B913-AB3C94F0B63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3E8CD27-A59C-4979-8070-B54D24A99E02}">
      <dgm:prSet/>
      <dgm:spPr/>
      <dgm:t>
        <a:bodyPr/>
        <a:lstStyle/>
        <a:p>
          <a:r>
            <a:rPr lang="en-US" dirty="0" err="1"/>
            <a:t>Tools:Vivado</a:t>
          </a:r>
          <a:r>
            <a:rPr lang="en-US" dirty="0"/>
            <a:t> ;Synopsys DC</a:t>
          </a:r>
        </a:p>
      </dgm:t>
    </dgm:pt>
    <dgm:pt modelId="{26962FBB-6DE3-4737-8B75-509F664D6F69}" type="parTrans" cxnId="{6D209422-9F1C-4466-AA99-72E075CCECB8}">
      <dgm:prSet/>
      <dgm:spPr/>
      <dgm:t>
        <a:bodyPr/>
        <a:lstStyle/>
        <a:p>
          <a:endParaRPr lang="en-US"/>
        </a:p>
      </dgm:t>
    </dgm:pt>
    <dgm:pt modelId="{26A9293A-3CDD-4A31-937B-B1E44881CA94}" type="sibTrans" cxnId="{6D209422-9F1C-4466-AA99-72E075CCECB8}">
      <dgm:prSet/>
      <dgm:spPr/>
      <dgm:t>
        <a:bodyPr/>
        <a:lstStyle/>
        <a:p>
          <a:endParaRPr lang="en-US"/>
        </a:p>
      </dgm:t>
    </dgm:pt>
    <dgm:pt modelId="{1F9911FA-0C41-4609-A119-9AB4F7BE8FB1}">
      <dgm:prSet/>
      <dgm:spPr/>
      <dgm:t>
        <a:bodyPr/>
        <a:lstStyle/>
        <a:p>
          <a:r>
            <a:rPr lang="en-US" dirty="0"/>
            <a:t>Process is implemented in </a:t>
          </a:r>
          <a:r>
            <a:rPr lang="en-US" dirty="0">
              <a:solidFill>
                <a:srgbClr val="FF0000"/>
              </a:solidFill>
            </a:rPr>
            <a:t>synthesis</a:t>
          </a:r>
          <a:r>
            <a:rPr lang="en-US" dirty="0"/>
            <a:t> step:</a:t>
          </a:r>
        </a:p>
      </dgm:t>
    </dgm:pt>
    <dgm:pt modelId="{802146A5-C188-4440-9783-BB0795F1B0C6}" type="parTrans" cxnId="{11A4C51A-DFE4-4A52-AF09-5F2BAFF07BC7}">
      <dgm:prSet/>
      <dgm:spPr/>
      <dgm:t>
        <a:bodyPr/>
        <a:lstStyle/>
        <a:p>
          <a:endParaRPr lang="en-US"/>
        </a:p>
      </dgm:t>
    </dgm:pt>
    <dgm:pt modelId="{BA2C7AAC-57E1-4F2D-B8F5-9AB504B60937}" type="sibTrans" cxnId="{11A4C51A-DFE4-4A52-AF09-5F2BAFF07BC7}">
      <dgm:prSet/>
      <dgm:spPr/>
      <dgm:t>
        <a:bodyPr/>
        <a:lstStyle/>
        <a:p>
          <a:endParaRPr lang="en-US"/>
        </a:p>
      </dgm:t>
    </dgm:pt>
    <dgm:pt modelId="{ACFD496B-4D88-4085-9E19-19437A07F21A}">
      <dgm:prSet/>
      <dgm:spPr/>
      <dgm:t>
        <a:bodyPr/>
        <a:lstStyle/>
        <a:p>
          <a:r>
            <a:rPr lang="en-US" sz="2300" dirty="0"/>
            <a:t>Instance Expansion:</a:t>
          </a:r>
        </a:p>
      </dgm:t>
    </dgm:pt>
    <dgm:pt modelId="{C361EFAF-6B4F-403F-B7F4-994F5C00A6C0}" type="parTrans" cxnId="{0B7F5E2E-A933-4550-9C41-ADD9CC45753A}">
      <dgm:prSet/>
      <dgm:spPr/>
      <dgm:t>
        <a:bodyPr/>
        <a:lstStyle/>
        <a:p>
          <a:endParaRPr lang="en-US"/>
        </a:p>
      </dgm:t>
    </dgm:pt>
    <dgm:pt modelId="{D83EEF01-9A23-42E4-88B5-EF176E223141}" type="sibTrans" cxnId="{0B7F5E2E-A933-4550-9C41-ADD9CC45753A}">
      <dgm:prSet/>
      <dgm:spPr/>
      <dgm:t>
        <a:bodyPr/>
        <a:lstStyle/>
        <a:p>
          <a:endParaRPr lang="en-US"/>
        </a:p>
      </dgm:t>
    </dgm:pt>
    <dgm:pt modelId="{096C647D-5BB7-4601-9853-FD4DE1FE2D0F}">
      <dgm:prSet/>
      <dgm:spPr/>
      <dgm:t>
        <a:bodyPr/>
        <a:lstStyle/>
        <a:p>
          <a:r>
            <a:rPr lang="en-US" sz="2300" dirty="0"/>
            <a:t>Hierarchy Removal:</a:t>
          </a:r>
        </a:p>
      </dgm:t>
    </dgm:pt>
    <dgm:pt modelId="{28E1F08B-8E05-44C9-BDBA-4FC49B78EE14}" type="parTrans" cxnId="{725E5043-8C41-4F21-9120-24F3523BE431}">
      <dgm:prSet/>
      <dgm:spPr/>
      <dgm:t>
        <a:bodyPr/>
        <a:lstStyle/>
        <a:p>
          <a:endParaRPr lang="en-US"/>
        </a:p>
      </dgm:t>
    </dgm:pt>
    <dgm:pt modelId="{2C2948D4-DA23-4479-B212-EC56D97D4B28}" type="sibTrans" cxnId="{725E5043-8C41-4F21-9120-24F3523BE431}">
      <dgm:prSet/>
      <dgm:spPr/>
      <dgm:t>
        <a:bodyPr/>
        <a:lstStyle/>
        <a:p>
          <a:endParaRPr lang="en-US"/>
        </a:p>
      </dgm:t>
    </dgm:pt>
    <dgm:pt modelId="{2FA00386-F6B7-4B81-A28A-0802040C825C}">
      <dgm:prSet/>
      <dgm:spPr/>
      <dgm:t>
        <a:bodyPr/>
        <a:lstStyle/>
        <a:p>
          <a:r>
            <a:rPr lang="en-US" sz="2300" dirty="0"/>
            <a:t>Logic Merging:</a:t>
          </a:r>
        </a:p>
      </dgm:t>
    </dgm:pt>
    <dgm:pt modelId="{AAD9076D-75A3-42CB-B19C-616E586F89D9}" type="parTrans" cxnId="{357ECC92-85B8-4299-9539-45C93CBFDDDC}">
      <dgm:prSet/>
      <dgm:spPr/>
      <dgm:t>
        <a:bodyPr/>
        <a:lstStyle/>
        <a:p>
          <a:endParaRPr lang="en-US"/>
        </a:p>
      </dgm:t>
    </dgm:pt>
    <dgm:pt modelId="{F93998F1-7BE7-4479-9542-F34F77C0CD64}" type="sibTrans" cxnId="{357ECC92-85B8-4299-9539-45C93CBFDDDC}">
      <dgm:prSet/>
      <dgm:spPr/>
      <dgm:t>
        <a:bodyPr/>
        <a:lstStyle/>
        <a:p>
          <a:endParaRPr lang="en-US"/>
        </a:p>
      </dgm:t>
    </dgm:pt>
    <dgm:pt modelId="{AFBE0464-EDD5-4243-8697-AA621D8B5BE6}">
      <dgm:prSet/>
      <dgm:spPr/>
      <dgm:t>
        <a:bodyPr/>
        <a:lstStyle/>
        <a:p>
          <a:r>
            <a:rPr lang="en-US" sz="2300" dirty="0"/>
            <a:t>Logic Restructuring:</a:t>
          </a:r>
        </a:p>
      </dgm:t>
    </dgm:pt>
    <dgm:pt modelId="{199059BC-BC43-411F-81CD-0E6ADBA526A6}" type="parTrans" cxnId="{3E3CF907-B302-4D1C-AEE1-48EBFD944977}">
      <dgm:prSet/>
      <dgm:spPr/>
      <dgm:t>
        <a:bodyPr/>
        <a:lstStyle/>
        <a:p>
          <a:endParaRPr lang="en-US"/>
        </a:p>
      </dgm:t>
    </dgm:pt>
    <dgm:pt modelId="{E1DC3672-2447-4D15-9A03-D0D042832DB6}" type="sibTrans" cxnId="{3E3CF907-B302-4D1C-AEE1-48EBFD944977}">
      <dgm:prSet/>
      <dgm:spPr/>
      <dgm:t>
        <a:bodyPr/>
        <a:lstStyle/>
        <a:p>
          <a:endParaRPr lang="en-US"/>
        </a:p>
      </dgm:t>
    </dgm:pt>
    <dgm:pt modelId="{33C2ADAF-C655-4CFD-99E4-12D18AF830C2}">
      <dgm:prSet/>
      <dgm:spPr/>
      <dgm:t>
        <a:bodyPr/>
        <a:lstStyle/>
        <a:p>
          <a:r>
            <a:rPr lang="en-US" sz="2300" dirty="0"/>
            <a:t>Flat Netlist</a:t>
          </a:r>
        </a:p>
      </dgm:t>
    </dgm:pt>
    <dgm:pt modelId="{C6568983-A730-4F37-AD4E-C4EE2EDC6254}" type="parTrans" cxnId="{54ACCD9D-9727-418E-AE1B-F972A3EFCC44}">
      <dgm:prSet/>
      <dgm:spPr/>
      <dgm:t>
        <a:bodyPr/>
        <a:lstStyle/>
        <a:p>
          <a:endParaRPr lang="en-US"/>
        </a:p>
      </dgm:t>
    </dgm:pt>
    <dgm:pt modelId="{E725F0CE-0F50-4806-9727-D7925AE71CC3}" type="sibTrans" cxnId="{54ACCD9D-9727-418E-AE1B-F972A3EFCC44}">
      <dgm:prSet/>
      <dgm:spPr/>
      <dgm:t>
        <a:bodyPr/>
        <a:lstStyle/>
        <a:p>
          <a:endParaRPr lang="en-US"/>
        </a:p>
      </dgm:t>
    </dgm:pt>
    <dgm:pt modelId="{F4B8DBAD-517E-432F-8E1D-29EA06E82C9E}">
      <dgm:prSet custT="1"/>
      <dgm:spPr/>
      <dgm:t>
        <a:bodyPr/>
        <a:lstStyle/>
        <a:p>
          <a:pPr>
            <a:buFont typeface="+mj-lt"/>
            <a:buNone/>
          </a:pPr>
          <a:r>
            <a:rPr lang="en-US" sz="1800" dirty="0"/>
            <a:t>    remove </a:t>
          </a:r>
          <a:r>
            <a:rPr lang="en-US" sz="1800" dirty="0" err="1"/>
            <a:t>boundries</a:t>
          </a:r>
          <a:endParaRPr lang="en-US" sz="1800" dirty="0"/>
        </a:p>
      </dgm:t>
    </dgm:pt>
    <dgm:pt modelId="{C92D2F71-CBBD-4F33-B89C-00918AB80934}" type="parTrans" cxnId="{A4C432D8-D8CF-403A-BB4A-19032272A6C4}">
      <dgm:prSet/>
      <dgm:spPr/>
      <dgm:t>
        <a:bodyPr/>
        <a:lstStyle/>
        <a:p>
          <a:endParaRPr lang="zh-CN" altLang="en-US"/>
        </a:p>
      </dgm:t>
    </dgm:pt>
    <dgm:pt modelId="{6A7C5547-776A-49CC-B733-672C9B6B0CB5}" type="sibTrans" cxnId="{A4C432D8-D8CF-403A-BB4A-19032272A6C4}">
      <dgm:prSet/>
      <dgm:spPr/>
      <dgm:t>
        <a:bodyPr/>
        <a:lstStyle/>
        <a:p>
          <a:endParaRPr lang="zh-CN" altLang="en-US"/>
        </a:p>
      </dgm:t>
    </dgm:pt>
    <dgm:pt modelId="{6714E92E-AFB0-44F1-8AC0-AA7031C75EB3}">
      <dgm:prSet custT="1"/>
      <dgm:spPr/>
      <dgm:t>
        <a:bodyPr/>
        <a:lstStyle/>
        <a:p>
          <a:pPr>
            <a:buNone/>
          </a:pPr>
          <a:r>
            <a:rPr lang="en-US" sz="1800" dirty="0"/>
            <a:t>    replace submodules by logical parts</a:t>
          </a:r>
        </a:p>
      </dgm:t>
    </dgm:pt>
    <dgm:pt modelId="{52EF6C08-B5F5-4757-91F7-C1F041AC0B46}" type="parTrans" cxnId="{F57C88DD-48DC-46D5-9EC2-3663045FB26B}">
      <dgm:prSet/>
      <dgm:spPr/>
      <dgm:t>
        <a:bodyPr/>
        <a:lstStyle/>
        <a:p>
          <a:endParaRPr lang="zh-CN" altLang="en-US"/>
        </a:p>
      </dgm:t>
    </dgm:pt>
    <dgm:pt modelId="{D1510E02-E5B6-4C74-BDDC-456D48CE2CC7}" type="sibTrans" cxnId="{F57C88DD-48DC-46D5-9EC2-3663045FB26B}">
      <dgm:prSet/>
      <dgm:spPr/>
      <dgm:t>
        <a:bodyPr/>
        <a:lstStyle/>
        <a:p>
          <a:endParaRPr lang="zh-CN" altLang="en-US"/>
        </a:p>
      </dgm:t>
    </dgm:pt>
    <dgm:pt modelId="{EF0DDC24-0761-493C-93E3-988133BE9B00}">
      <dgm:prSet custT="1"/>
      <dgm:spPr/>
      <dgm:t>
        <a:bodyPr/>
        <a:lstStyle/>
        <a:p>
          <a:pPr>
            <a:buNone/>
          </a:pPr>
          <a:r>
            <a:rPr lang="en-US" sz="1800" dirty="0"/>
            <a:t>    remove repeat formulas</a:t>
          </a:r>
        </a:p>
      </dgm:t>
    </dgm:pt>
    <dgm:pt modelId="{142135D4-B753-4310-9F47-3F9BBDF85713}" type="parTrans" cxnId="{223AA6BC-5375-4B4D-94EE-48C662338BC2}">
      <dgm:prSet/>
      <dgm:spPr/>
      <dgm:t>
        <a:bodyPr/>
        <a:lstStyle/>
        <a:p>
          <a:endParaRPr lang="zh-CN" altLang="en-US"/>
        </a:p>
      </dgm:t>
    </dgm:pt>
    <dgm:pt modelId="{223D3CD9-986C-4E47-9CD0-AD1801E62630}" type="sibTrans" cxnId="{223AA6BC-5375-4B4D-94EE-48C662338BC2}">
      <dgm:prSet/>
      <dgm:spPr/>
      <dgm:t>
        <a:bodyPr/>
        <a:lstStyle/>
        <a:p>
          <a:endParaRPr lang="zh-CN" altLang="en-US"/>
        </a:p>
      </dgm:t>
    </dgm:pt>
    <dgm:pt modelId="{176123FE-A7CC-4057-B356-01E6FC2EED0A}">
      <dgm:prSet custT="1"/>
      <dgm:spPr/>
      <dgm:t>
        <a:bodyPr/>
        <a:lstStyle/>
        <a:p>
          <a:pPr>
            <a:buNone/>
          </a:pPr>
          <a:r>
            <a:rPr lang="en-US" sz="2300" dirty="0"/>
            <a:t>    </a:t>
          </a:r>
          <a:r>
            <a:rPr lang="en-US" sz="1800" dirty="0"/>
            <a:t>rewrite </a:t>
          </a:r>
          <a:r>
            <a:rPr lang="en-US" sz="1800" dirty="0" err="1"/>
            <a:t>boolean</a:t>
          </a:r>
          <a:r>
            <a:rPr lang="en-US" sz="1800" dirty="0"/>
            <a:t> expression</a:t>
          </a:r>
          <a:endParaRPr lang="en-US" sz="2300" dirty="0"/>
        </a:p>
      </dgm:t>
    </dgm:pt>
    <dgm:pt modelId="{95BCA6A3-5B46-46FA-94B0-12EBA1CAD33C}" type="parTrans" cxnId="{72F6ECCF-5EB5-45C6-8EE3-8E42547D2028}">
      <dgm:prSet/>
      <dgm:spPr/>
      <dgm:t>
        <a:bodyPr/>
        <a:lstStyle/>
        <a:p>
          <a:endParaRPr lang="zh-CN" altLang="en-US"/>
        </a:p>
      </dgm:t>
    </dgm:pt>
    <dgm:pt modelId="{B6C26DB5-C610-43E0-940A-BA92BC7F26FF}" type="sibTrans" cxnId="{72F6ECCF-5EB5-45C6-8EE3-8E42547D2028}">
      <dgm:prSet/>
      <dgm:spPr/>
      <dgm:t>
        <a:bodyPr/>
        <a:lstStyle/>
        <a:p>
          <a:endParaRPr lang="zh-CN" altLang="en-US"/>
        </a:p>
      </dgm:t>
    </dgm:pt>
    <dgm:pt modelId="{11CC386E-6815-40A7-AE1E-DBF6557B1B10}" type="pres">
      <dgm:prSet presAssocID="{9C5C9DE4-6A6F-4E02-B913-AB3C94F0B63C}" presName="linear" presStyleCnt="0">
        <dgm:presLayoutVars>
          <dgm:animLvl val="lvl"/>
          <dgm:resizeHandles val="exact"/>
        </dgm:presLayoutVars>
      </dgm:prSet>
      <dgm:spPr/>
    </dgm:pt>
    <dgm:pt modelId="{3FA07A5E-C995-4220-B020-38429FC71D2E}" type="pres">
      <dgm:prSet presAssocID="{33E8CD27-A59C-4979-8070-B54D24A99E0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3407F89-FB67-4DA3-AA43-43A8E6ED8CE2}" type="pres">
      <dgm:prSet presAssocID="{26A9293A-3CDD-4A31-937B-B1E44881CA94}" presName="spacer" presStyleCnt="0"/>
      <dgm:spPr/>
    </dgm:pt>
    <dgm:pt modelId="{7881D445-5CF3-4CCA-8F8C-7F0B221AC3F3}" type="pres">
      <dgm:prSet presAssocID="{1F9911FA-0C41-4609-A119-9AB4F7BE8FB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80677C8-9F57-4AD8-BAD4-4CF4219DEC85}" type="pres">
      <dgm:prSet presAssocID="{1F9911FA-0C41-4609-A119-9AB4F7BE8FB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E3CF907-B302-4D1C-AEE1-48EBFD944977}" srcId="{1F9911FA-0C41-4609-A119-9AB4F7BE8FB1}" destId="{AFBE0464-EDD5-4243-8697-AA621D8B5BE6}" srcOrd="6" destOrd="0" parTransId="{199059BC-BC43-411F-81CD-0E6ADBA526A6}" sibTransId="{E1DC3672-2447-4D15-9A03-D0D042832DB6}"/>
    <dgm:cxn modelId="{11A4C51A-DFE4-4A52-AF09-5F2BAFF07BC7}" srcId="{9C5C9DE4-6A6F-4E02-B913-AB3C94F0B63C}" destId="{1F9911FA-0C41-4609-A119-9AB4F7BE8FB1}" srcOrd="1" destOrd="0" parTransId="{802146A5-C188-4440-9783-BB0795F1B0C6}" sibTransId="{BA2C7AAC-57E1-4F2D-B8F5-9AB504B60937}"/>
    <dgm:cxn modelId="{6D209422-9F1C-4466-AA99-72E075CCECB8}" srcId="{9C5C9DE4-6A6F-4E02-B913-AB3C94F0B63C}" destId="{33E8CD27-A59C-4979-8070-B54D24A99E02}" srcOrd="0" destOrd="0" parTransId="{26962FBB-6DE3-4737-8B75-509F664D6F69}" sibTransId="{26A9293A-3CDD-4A31-937B-B1E44881CA94}"/>
    <dgm:cxn modelId="{E6DE9B22-0B5C-4AAF-93C6-7E0F6F3BE1A1}" type="presOf" srcId="{33E8CD27-A59C-4979-8070-B54D24A99E02}" destId="{3FA07A5E-C995-4220-B020-38429FC71D2E}" srcOrd="0" destOrd="0" presId="urn:microsoft.com/office/officeart/2005/8/layout/vList2"/>
    <dgm:cxn modelId="{0B7F5E2E-A933-4550-9C41-ADD9CC45753A}" srcId="{1F9911FA-0C41-4609-A119-9AB4F7BE8FB1}" destId="{ACFD496B-4D88-4085-9E19-19437A07F21A}" srcOrd="0" destOrd="0" parTransId="{C361EFAF-6B4F-403F-B7F4-994F5C00A6C0}" sibTransId="{D83EEF01-9A23-42E4-88B5-EF176E223141}"/>
    <dgm:cxn modelId="{725E5043-8C41-4F21-9120-24F3523BE431}" srcId="{1F9911FA-0C41-4609-A119-9AB4F7BE8FB1}" destId="{096C647D-5BB7-4601-9853-FD4DE1FE2D0F}" srcOrd="2" destOrd="0" parTransId="{28E1F08B-8E05-44C9-BDBA-4FC49B78EE14}" sibTransId="{2C2948D4-DA23-4479-B212-EC56D97D4B28}"/>
    <dgm:cxn modelId="{E5F8726B-1557-4A24-B830-872E172F5B22}" type="presOf" srcId="{ACFD496B-4D88-4085-9E19-19437A07F21A}" destId="{580677C8-9F57-4AD8-BAD4-4CF4219DEC85}" srcOrd="0" destOrd="0" presId="urn:microsoft.com/office/officeart/2005/8/layout/vList2"/>
    <dgm:cxn modelId="{2F838E74-D749-4387-A05B-4BB04740D034}" type="presOf" srcId="{F4B8DBAD-517E-432F-8E1D-29EA06E82C9E}" destId="{580677C8-9F57-4AD8-BAD4-4CF4219DEC85}" srcOrd="0" destOrd="3" presId="urn:microsoft.com/office/officeart/2005/8/layout/vList2"/>
    <dgm:cxn modelId="{4627E77E-F661-4A0B-B7CC-654806827CAE}" type="presOf" srcId="{6714E92E-AFB0-44F1-8AC0-AA7031C75EB3}" destId="{580677C8-9F57-4AD8-BAD4-4CF4219DEC85}" srcOrd="0" destOrd="1" presId="urn:microsoft.com/office/officeart/2005/8/layout/vList2"/>
    <dgm:cxn modelId="{DCF8BC80-FBEF-4AA3-B1D2-B9EB5236CC59}" type="presOf" srcId="{EF0DDC24-0761-493C-93E3-988133BE9B00}" destId="{580677C8-9F57-4AD8-BAD4-4CF4219DEC85}" srcOrd="0" destOrd="5" presId="urn:microsoft.com/office/officeart/2005/8/layout/vList2"/>
    <dgm:cxn modelId="{87472890-73CB-4847-B68C-53099DA220C4}" type="presOf" srcId="{2FA00386-F6B7-4B81-A28A-0802040C825C}" destId="{580677C8-9F57-4AD8-BAD4-4CF4219DEC85}" srcOrd="0" destOrd="4" presId="urn:microsoft.com/office/officeart/2005/8/layout/vList2"/>
    <dgm:cxn modelId="{357ECC92-85B8-4299-9539-45C93CBFDDDC}" srcId="{1F9911FA-0C41-4609-A119-9AB4F7BE8FB1}" destId="{2FA00386-F6B7-4B81-A28A-0802040C825C}" srcOrd="4" destOrd="0" parTransId="{AAD9076D-75A3-42CB-B19C-616E586F89D9}" sibTransId="{F93998F1-7BE7-4479-9542-F34F77C0CD64}"/>
    <dgm:cxn modelId="{54ACCD9D-9727-418E-AE1B-F972A3EFCC44}" srcId="{1F9911FA-0C41-4609-A119-9AB4F7BE8FB1}" destId="{33C2ADAF-C655-4CFD-99E4-12D18AF830C2}" srcOrd="8" destOrd="0" parTransId="{C6568983-A730-4F37-AD4E-C4EE2EDC6254}" sibTransId="{E725F0CE-0F50-4806-9727-D7925AE71CC3}"/>
    <dgm:cxn modelId="{DF12BDA0-05CC-4A61-AF80-3A56A78C1370}" type="presOf" srcId="{096C647D-5BB7-4601-9853-FD4DE1FE2D0F}" destId="{580677C8-9F57-4AD8-BAD4-4CF4219DEC85}" srcOrd="0" destOrd="2" presId="urn:microsoft.com/office/officeart/2005/8/layout/vList2"/>
    <dgm:cxn modelId="{4DE1E6A6-CCD3-49A5-AAC6-785EC8311D5D}" type="presOf" srcId="{1F9911FA-0C41-4609-A119-9AB4F7BE8FB1}" destId="{7881D445-5CF3-4CCA-8F8C-7F0B221AC3F3}" srcOrd="0" destOrd="0" presId="urn:microsoft.com/office/officeart/2005/8/layout/vList2"/>
    <dgm:cxn modelId="{69C123B3-781D-49BF-A616-F0923BF3039F}" type="presOf" srcId="{176123FE-A7CC-4057-B356-01E6FC2EED0A}" destId="{580677C8-9F57-4AD8-BAD4-4CF4219DEC85}" srcOrd="0" destOrd="7" presId="urn:microsoft.com/office/officeart/2005/8/layout/vList2"/>
    <dgm:cxn modelId="{223AA6BC-5375-4B4D-94EE-48C662338BC2}" srcId="{1F9911FA-0C41-4609-A119-9AB4F7BE8FB1}" destId="{EF0DDC24-0761-493C-93E3-988133BE9B00}" srcOrd="5" destOrd="0" parTransId="{142135D4-B753-4310-9F47-3F9BBDF85713}" sibTransId="{223D3CD9-986C-4E47-9CD0-AD1801E62630}"/>
    <dgm:cxn modelId="{72F6ECCF-5EB5-45C6-8EE3-8E42547D2028}" srcId="{1F9911FA-0C41-4609-A119-9AB4F7BE8FB1}" destId="{176123FE-A7CC-4057-B356-01E6FC2EED0A}" srcOrd="7" destOrd="0" parTransId="{95BCA6A3-5B46-46FA-94B0-12EBA1CAD33C}" sibTransId="{B6C26DB5-C610-43E0-940A-BA92BC7F26FF}"/>
    <dgm:cxn modelId="{A4C432D8-D8CF-403A-BB4A-19032272A6C4}" srcId="{1F9911FA-0C41-4609-A119-9AB4F7BE8FB1}" destId="{F4B8DBAD-517E-432F-8E1D-29EA06E82C9E}" srcOrd="3" destOrd="0" parTransId="{C92D2F71-CBBD-4F33-B89C-00918AB80934}" sibTransId="{6A7C5547-776A-49CC-B733-672C9B6B0CB5}"/>
    <dgm:cxn modelId="{F57C88DD-48DC-46D5-9EC2-3663045FB26B}" srcId="{1F9911FA-0C41-4609-A119-9AB4F7BE8FB1}" destId="{6714E92E-AFB0-44F1-8AC0-AA7031C75EB3}" srcOrd="1" destOrd="0" parTransId="{52EF6C08-B5F5-4757-91F7-C1F041AC0B46}" sibTransId="{D1510E02-E5B6-4C74-BDDC-456D48CE2CC7}"/>
    <dgm:cxn modelId="{0695B1E5-2C8A-45BE-B809-77959A64DA3B}" type="presOf" srcId="{9C5C9DE4-6A6F-4E02-B913-AB3C94F0B63C}" destId="{11CC386E-6815-40A7-AE1E-DBF6557B1B10}" srcOrd="0" destOrd="0" presId="urn:microsoft.com/office/officeart/2005/8/layout/vList2"/>
    <dgm:cxn modelId="{6D995BE6-F6FF-462B-8D34-E055A9A0C408}" type="presOf" srcId="{33C2ADAF-C655-4CFD-99E4-12D18AF830C2}" destId="{580677C8-9F57-4AD8-BAD4-4CF4219DEC85}" srcOrd="0" destOrd="8" presId="urn:microsoft.com/office/officeart/2005/8/layout/vList2"/>
    <dgm:cxn modelId="{6543BEFD-8A01-41D0-879D-4FC5AE6F40D3}" type="presOf" srcId="{AFBE0464-EDD5-4243-8697-AA621D8B5BE6}" destId="{580677C8-9F57-4AD8-BAD4-4CF4219DEC85}" srcOrd="0" destOrd="6" presId="urn:microsoft.com/office/officeart/2005/8/layout/vList2"/>
    <dgm:cxn modelId="{B5F58DAD-210F-4307-AE90-F4DED2ADC875}" type="presParOf" srcId="{11CC386E-6815-40A7-AE1E-DBF6557B1B10}" destId="{3FA07A5E-C995-4220-B020-38429FC71D2E}" srcOrd="0" destOrd="0" presId="urn:microsoft.com/office/officeart/2005/8/layout/vList2"/>
    <dgm:cxn modelId="{203DFACA-12FC-4C7C-8397-44682240765C}" type="presParOf" srcId="{11CC386E-6815-40A7-AE1E-DBF6557B1B10}" destId="{33407F89-FB67-4DA3-AA43-43A8E6ED8CE2}" srcOrd="1" destOrd="0" presId="urn:microsoft.com/office/officeart/2005/8/layout/vList2"/>
    <dgm:cxn modelId="{B27E9259-970F-46D9-8AE5-AF440FB5A540}" type="presParOf" srcId="{11CC386E-6815-40A7-AE1E-DBF6557B1B10}" destId="{7881D445-5CF3-4CCA-8F8C-7F0B221AC3F3}" srcOrd="2" destOrd="0" presId="urn:microsoft.com/office/officeart/2005/8/layout/vList2"/>
    <dgm:cxn modelId="{2EB34359-17B0-4081-ADD4-EB496968FABD}" type="presParOf" srcId="{11CC386E-6815-40A7-AE1E-DBF6557B1B10}" destId="{580677C8-9F57-4AD8-BAD4-4CF4219DEC8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A07A5E-C995-4220-B020-38429FC71D2E}">
      <dsp:nvSpPr>
        <dsp:cNvPr id="0" name=""/>
        <dsp:cNvSpPr/>
      </dsp:nvSpPr>
      <dsp:spPr>
        <a:xfrm>
          <a:off x="0" y="7856"/>
          <a:ext cx="5175384" cy="10725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Tools:Vivado</a:t>
          </a:r>
          <a:r>
            <a:rPr lang="en-US" sz="2700" kern="1200" dirty="0"/>
            <a:t> ;Synopsys DC</a:t>
          </a:r>
        </a:p>
      </dsp:txBody>
      <dsp:txXfrm>
        <a:off x="52359" y="60215"/>
        <a:ext cx="5070666" cy="967861"/>
      </dsp:txXfrm>
    </dsp:sp>
    <dsp:sp modelId="{7881D445-5CF3-4CCA-8F8C-7F0B221AC3F3}">
      <dsp:nvSpPr>
        <dsp:cNvPr id="0" name=""/>
        <dsp:cNvSpPr/>
      </dsp:nvSpPr>
      <dsp:spPr>
        <a:xfrm>
          <a:off x="0" y="1158195"/>
          <a:ext cx="5175384" cy="107257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Process is implemented in </a:t>
          </a:r>
          <a:r>
            <a:rPr lang="en-US" sz="2700" kern="1200" dirty="0">
              <a:solidFill>
                <a:srgbClr val="FF0000"/>
              </a:solidFill>
            </a:rPr>
            <a:t>synthesis</a:t>
          </a:r>
          <a:r>
            <a:rPr lang="en-US" sz="2700" kern="1200" dirty="0"/>
            <a:t> step:</a:t>
          </a:r>
        </a:p>
      </dsp:txBody>
      <dsp:txXfrm>
        <a:off x="52359" y="1210554"/>
        <a:ext cx="5070666" cy="967861"/>
      </dsp:txXfrm>
    </dsp:sp>
    <dsp:sp modelId="{580677C8-9F57-4AD8-BAD4-4CF4219DEC85}">
      <dsp:nvSpPr>
        <dsp:cNvPr id="0" name=""/>
        <dsp:cNvSpPr/>
      </dsp:nvSpPr>
      <dsp:spPr>
        <a:xfrm>
          <a:off x="0" y="2230774"/>
          <a:ext cx="5175384" cy="3297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18" tIns="22860" rIns="128016" bIns="2286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Instance Expansion: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800" kern="1200" dirty="0"/>
            <a:t>    replace submodules by logical parts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Hierarchy Removal: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None/>
          </a:pPr>
          <a:r>
            <a:rPr lang="en-US" sz="1800" kern="1200" dirty="0"/>
            <a:t>    remove </a:t>
          </a:r>
          <a:r>
            <a:rPr lang="en-US" sz="1800" kern="1200" dirty="0" err="1"/>
            <a:t>boundries</a:t>
          </a:r>
          <a:endParaRPr lang="en-US" sz="18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Logic Merging: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800" kern="1200" dirty="0"/>
            <a:t>    remove repeat formulas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Logic Restructuring: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300" kern="1200" dirty="0"/>
            <a:t>    </a:t>
          </a:r>
          <a:r>
            <a:rPr lang="en-US" sz="1800" kern="1200" dirty="0"/>
            <a:t>rewrite </a:t>
          </a:r>
          <a:r>
            <a:rPr lang="en-US" sz="1800" kern="1200" dirty="0" err="1"/>
            <a:t>boolean</a:t>
          </a:r>
          <a:r>
            <a:rPr lang="en-US" sz="1800" kern="1200" dirty="0"/>
            <a:t> expression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Flat Netlist</a:t>
          </a:r>
        </a:p>
      </dsp:txBody>
      <dsp:txXfrm>
        <a:off x="0" y="2230774"/>
        <a:ext cx="5175384" cy="32975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>
                <a:solidFill>
                  <a:schemeClr val="tx2"/>
                </a:solidFill>
              </a:rPr>
              <a:t>AI-based RTL Code Analysis and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>
                <a:solidFill>
                  <a:schemeClr val="tx2"/>
                </a:solidFill>
              </a:rPr>
              <a:t>Yuming Wang</a:t>
            </a:r>
          </a:p>
          <a:p>
            <a:pPr algn="l"/>
            <a:r>
              <a:rPr lang="en-US" sz="1700">
                <a:solidFill>
                  <a:schemeClr val="tx2"/>
                </a:solidFill>
              </a:rPr>
              <a:t>Hochschule HAMM-LIPPSTADT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A9A6DEE4-77FF-94D8-9AC7-226523EB4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Importance of RTL design in modern chip development.</a:t>
            </a:r>
          </a:p>
          <a:p>
            <a:pPr lvl="1"/>
            <a:r>
              <a:rPr lang="en-US" sz="1700"/>
              <a:t>PPA (Performance, Power, Area) as key optimization targets.</a:t>
            </a:r>
          </a:p>
          <a:p>
            <a:pPr lvl="1"/>
            <a:r>
              <a:rPr lang="en-US" sz="1700"/>
              <a:t>Growing design complexity increases need for efficient optimization.</a:t>
            </a:r>
          </a:p>
        </p:txBody>
      </p:sp>
      <p:pic>
        <p:nvPicPr>
          <p:cNvPr id="5" name="Picture 4" descr="使用黑线相连接的立方体俯视图">
            <a:extLst>
              <a:ext uri="{FF2B5EF4-FFF2-40B4-BE49-F238E27FC236}">
                <a16:creationId xmlns:a16="http://schemas.microsoft.com/office/drawing/2014/main" id="{56396F1F-96A0-0742-8EDA-D3941DDA89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33" r="2001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CF169-95F8-0C60-5580-629FF3214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 Design Workflow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FE3C49-B9F8-AE43-6BC5-A352D5139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1CBBBB2-F94A-8465-E632-E637A83E0A57}"/>
              </a:ext>
            </a:extLst>
          </p:cNvPr>
          <p:cNvSpPr/>
          <p:nvPr/>
        </p:nvSpPr>
        <p:spPr>
          <a:xfrm>
            <a:off x="3666564" y="1380565"/>
            <a:ext cx="1488141" cy="7351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Architecture design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F203004-46B2-5474-1EA1-EDCB4249FBC9}"/>
              </a:ext>
            </a:extLst>
          </p:cNvPr>
          <p:cNvSpPr/>
          <p:nvPr/>
        </p:nvSpPr>
        <p:spPr>
          <a:xfrm>
            <a:off x="3666560" y="5045100"/>
            <a:ext cx="1488141" cy="7351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Placement&amp;Routing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FC4EC71-A4E6-8F89-A154-D39D69853D85}"/>
              </a:ext>
            </a:extLst>
          </p:cNvPr>
          <p:cNvSpPr/>
          <p:nvPr/>
        </p:nvSpPr>
        <p:spPr>
          <a:xfrm>
            <a:off x="3666564" y="5987823"/>
            <a:ext cx="1488141" cy="7351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FPGA Realization</a:t>
            </a:r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D29D95B-D9A7-9105-E45C-7CB04ACB8AA6}"/>
              </a:ext>
            </a:extLst>
          </p:cNvPr>
          <p:cNvSpPr/>
          <p:nvPr/>
        </p:nvSpPr>
        <p:spPr>
          <a:xfrm>
            <a:off x="3666561" y="4127432"/>
            <a:ext cx="1488141" cy="7351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STA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BB05EBE-CB2F-4B32-7821-459EE87277D2}"/>
              </a:ext>
            </a:extLst>
          </p:cNvPr>
          <p:cNvSpPr/>
          <p:nvPr/>
        </p:nvSpPr>
        <p:spPr>
          <a:xfrm>
            <a:off x="3666564" y="2260732"/>
            <a:ext cx="1488141" cy="7351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RTL design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76E863A-1EAD-F293-71A0-5D94D0ED4EF3}"/>
              </a:ext>
            </a:extLst>
          </p:cNvPr>
          <p:cNvSpPr/>
          <p:nvPr/>
        </p:nvSpPr>
        <p:spPr>
          <a:xfrm>
            <a:off x="3666564" y="3116462"/>
            <a:ext cx="1488141" cy="7351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synthesis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5EACFA7-6C16-D481-8CCA-C71DB591CC2F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4410635" y="2115671"/>
            <a:ext cx="0" cy="145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7187454-6F07-3EB4-F917-02FC3489885A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4410635" y="2995838"/>
            <a:ext cx="0" cy="120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6A84455-1689-3812-9813-61044E820F62}"/>
              </a:ext>
            </a:extLst>
          </p:cNvPr>
          <p:cNvCxnSpPr>
            <a:stCxn id="9" idx="2"/>
            <a:endCxn id="7" idx="0"/>
          </p:cNvCxnSpPr>
          <p:nvPr/>
        </p:nvCxnSpPr>
        <p:spPr>
          <a:xfrm flipH="1">
            <a:off x="4410632" y="3851568"/>
            <a:ext cx="3" cy="275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33A5317-17A7-5F1D-2FA1-446507446F5A}"/>
              </a:ext>
            </a:extLst>
          </p:cNvPr>
          <p:cNvCxnSpPr>
            <a:stCxn id="7" idx="2"/>
            <a:endCxn id="5" idx="0"/>
          </p:cNvCxnSpPr>
          <p:nvPr/>
        </p:nvCxnSpPr>
        <p:spPr>
          <a:xfrm flipH="1">
            <a:off x="4410631" y="4862538"/>
            <a:ext cx="1" cy="182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EB26A43-8242-70C8-D647-5228727E6FBC}"/>
              </a:ext>
            </a:extLst>
          </p:cNvPr>
          <p:cNvCxnSpPr>
            <a:stCxn id="5" idx="2"/>
          </p:cNvCxnSpPr>
          <p:nvPr/>
        </p:nvCxnSpPr>
        <p:spPr>
          <a:xfrm>
            <a:off x="4410631" y="5780206"/>
            <a:ext cx="4" cy="207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5C469C6-B15A-5619-AE04-A52625AAA679}"/>
              </a:ext>
            </a:extLst>
          </p:cNvPr>
          <p:cNvCxnSpPr/>
          <p:nvPr/>
        </p:nvCxnSpPr>
        <p:spPr>
          <a:xfrm flipH="1">
            <a:off x="5154705" y="2581835"/>
            <a:ext cx="10668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A74A14B9-123D-1932-CBC5-92DDF0A6904F}"/>
              </a:ext>
            </a:extLst>
          </p:cNvPr>
          <p:cNvSpPr txBox="1"/>
          <p:nvPr/>
        </p:nvSpPr>
        <p:spPr>
          <a:xfrm>
            <a:off x="6213031" y="2166620"/>
            <a:ext cx="21510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Combinational Logic;</a:t>
            </a:r>
          </a:p>
          <a:p>
            <a:r>
              <a:rPr lang="en-US" altLang="zh-CN" dirty="0"/>
              <a:t>Clock;</a:t>
            </a:r>
          </a:p>
          <a:p>
            <a:r>
              <a:rPr lang="en-US" altLang="zh-CN" dirty="0"/>
              <a:t>Registers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1252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2. RTL Optimization Targets</a:t>
            </a:r>
          </a:p>
        </p:txBody>
      </p:sp>
      <p:pic>
        <p:nvPicPr>
          <p:cNvPr id="5" name="Picture 4" descr="彩色尺子和量角器">
            <a:extLst>
              <a:ext uri="{FF2B5EF4-FFF2-40B4-BE49-F238E27FC236}">
                <a16:creationId xmlns:a16="http://schemas.microsoft.com/office/drawing/2014/main" id="{0BBE24CE-8441-6EE8-0ED9-B25E4844A6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89" r="31149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US" sz="1700"/>
              <a:t>Performance: maximizing achievable clock frequency.</a:t>
            </a:r>
          </a:p>
          <a:p>
            <a:pPr lvl="1"/>
            <a:r>
              <a:rPr lang="en-US" sz="1700"/>
              <a:t>Area: minimizing silicon resource usage.</a:t>
            </a:r>
          </a:p>
          <a:p>
            <a:pPr lvl="1"/>
            <a:r>
              <a:rPr lang="en-US" sz="1700"/>
              <a:t>Power: improving energy efficiency.</a:t>
            </a:r>
          </a:p>
          <a:p>
            <a:pPr lvl="1"/>
            <a:r>
              <a:rPr lang="en-US" sz="1700"/>
              <a:t>Early optimization avoids costly design iterations.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3577" y="668201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900"/>
              <a:t>3. Traditional Optimization: Hierarchical Flattening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7248" y="1890485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 dirty="0"/>
              <a:t>Removes module boundaries to enable global optimization.</a:t>
            </a:r>
          </a:p>
          <a:p>
            <a:pPr lvl="1"/>
            <a:r>
              <a:rPr lang="en-US" sz="2100" dirty="0"/>
              <a:t>Improves timing, area, and routing efficiency.</a:t>
            </a:r>
          </a:p>
          <a:p>
            <a:pPr lvl="1"/>
            <a:r>
              <a:rPr lang="en-US" sz="2100" dirty="0"/>
              <a:t>Tradeoff: more difficult debugging and verification.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C3413E8-FA94-4D4D-EC82-D23D4304E546}"/>
              </a:ext>
            </a:extLst>
          </p:cNvPr>
          <p:cNvCxnSpPr/>
          <p:nvPr/>
        </p:nvCxnSpPr>
        <p:spPr>
          <a:xfrm>
            <a:off x="3657600" y="423368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1651AE63-E2CC-A33A-783B-F66925300899}"/>
              </a:ext>
            </a:extLst>
          </p:cNvPr>
          <p:cNvSpPr txBox="1"/>
          <p:nvPr/>
        </p:nvSpPr>
        <p:spPr>
          <a:xfrm>
            <a:off x="1763015" y="4650374"/>
            <a:ext cx="437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3"/>
                </a:solidFill>
              </a:rPr>
              <a:t>Better Performance and Area planning</a:t>
            </a:r>
            <a:endParaRPr lang="zh-CN" altLang="en-US" dirty="0">
              <a:solidFill>
                <a:schemeClr val="accent3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D17F70F-266D-5AA0-BF4E-232A2335C85C}"/>
              </a:ext>
            </a:extLst>
          </p:cNvPr>
          <p:cNvCxnSpPr/>
          <p:nvPr/>
        </p:nvCxnSpPr>
        <p:spPr>
          <a:xfrm flipH="1">
            <a:off x="2895599" y="4964317"/>
            <a:ext cx="233083" cy="317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68305BF-0283-C9C9-AB56-07860DBAB42E}"/>
              </a:ext>
            </a:extLst>
          </p:cNvPr>
          <p:cNvCxnSpPr/>
          <p:nvPr/>
        </p:nvCxnSpPr>
        <p:spPr>
          <a:xfrm>
            <a:off x="4333160" y="4958730"/>
            <a:ext cx="277906" cy="317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E386EE6E-E444-73C2-EBBA-17CA48568AE1}"/>
              </a:ext>
            </a:extLst>
          </p:cNvPr>
          <p:cNvSpPr txBox="1"/>
          <p:nvPr/>
        </p:nvSpPr>
        <p:spPr>
          <a:xfrm>
            <a:off x="969378" y="5266157"/>
            <a:ext cx="3363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Shorter R2R </a:t>
            </a:r>
            <a:r>
              <a:rPr lang="en-US" altLang="zh-CN" dirty="0" err="1"/>
              <a:t>path,more</a:t>
            </a:r>
            <a:r>
              <a:rPr lang="en-US" altLang="zh-CN" dirty="0"/>
              <a:t> aggressive logic restructuring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96CD679-C7B4-359D-C6A4-8BF145E18E18}"/>
              </a:ext>
            </a:extLst>
          </p:cNvPr>
          <p:cNvSpPr txBox="1"/>
          <p:nvPr/>
        </p:nvSpPr>
        <p:spPr>
          <a:xfrm>
            <a:off x="4400724" y="5263558"/>
            <a:ext cx="2829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Deletion of redundant </a:t>
            </a:r>
            <a:r>
              <a:rPr lang="en-US" altLang="zh-CN" dirty="0" err="1"/>
              <a:t>gates,rewrite</a:t>
            </a:r>
            <a:r>
              <a:rPr lang="en-US" altLang="zh-CN" dirty="0"/>
              <a:t> Boolean expression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E615A-C535-9018-8067-EC682E4B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3" name="内容占位符 12" descr="图示&#10;&#10;AI 生成的内容可能不正确。">
            <a:extLst>
              <a:ext uri="{FF2B5EF4-FFF2-40B4-BE49-F238E27FC236}">
                <a16:creationId xmlns:a16="http://schemas.microsoft.com/office/drawing/2014/main" id="{897B8E71-8B97-7F1E-AE0D-B771B82B9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057" y="1600200"/>
            <a:ext cx="6629885" cy="4525963"/>
          </a:xfr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5579DA6-FBED-7F64-A41D-3051FAEE31B0}"/>
              </a:ext>
            </a:extLst>
          </p:cNvPr>
          <p:cNvSpPr txBox="1"/>
          <p:nvPr/>
        </p:nvSpPr>
        <p:spPr>
          <a:xfrm>
            <a:off x="1864659" y="5257800"/>
            <a:ext cx="20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Hierarchical design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F370D8-48F6-8D95-2957-96E306DBD54C}"/>
              </a:ext>
            </a:extLst>
          </p:cNvPr>
          <p:cNvSpPr txBox="1"/>
          <p:nvPr/>
        </p:nvSpPr>
        <p:spPr>
          <a:xfrm>
            <a:off x="5369859" y="5257800"/>
            <a:ext cx="1909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Flattened design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84497BB-FD78-268D-61FD-6D630E4A73F7}"/>
              </a:ext>
            </a:extLst>
          </p:cNvPr>
          <p:cNvSpPr/>
          <p:nvPr/>
        </p:nvSpPr>
        <p:spPr>
          <a:xfrm>
            <a:off x="190270" y="2763884"/>
            <a:ext cx="1521989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All submodules have their own </a:t>
            </a:r>
            <a:r>
              <a:rPr lang="en-US" altLang="zh-CN" sz="1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boundries</a:t>
            </a:r>
            <a:endParaRPr lang="zh-CN" altLang="en-US" sz="1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440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0293461-CD77-917C-4139-5BB51BFDC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altLang="zh-CN" sz="2900"/>
              <a:t>Automatic transformation </a:t>
            </a:r>
            <a:endParaRPr lang="zh-CN" altLang="en-US" sz="29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EC5293B6-FE15-95BD-AD9E-95D3A7B9BE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909381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382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20F5364-6DA9-6AFD-B160-2D49F2140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CN" sz="4700" dirty="0"/>
              <a:t>Limitations?</a:t>
            </a:r>
            <a:endParaRPr lang="zh-CN" altLang="en-US" sz="47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25697B-9E56-FA38-0CD0-1BDE7FD71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777" y="3002936"/>
            <a:ext cx="8013573" cy="3178408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Debugging Difficulty</a:t>
            </a:r>
            <a:r>
              <a:rPr lang="en-US" altLang="zh-CN" sz="1900" dirty="0"/>
              <a:t>: similar to behavioral design and structural design in VHDL</a:t>
            </a:r>
          </a:p>
          <a:p>
            <a:r>
              <a:rPr lang="en-US" altLang="zh-CN" sz="2400" dirty="0"/>
              <a:t>Reduced reusability: </a:t>
            </a:r>
            <a:r>
              <a:rPr lang="en-US" altLang="zh-CN" sz="1900" dirty="0"/>
              <a:t>Structures of modules are destroyed!</a:t>
            </a:r>
          </a:p>
          <a:p>
            <a:r>
              <a:rPr lang="en-US" altLang="zh-CN" sz="2400" dirty="0"/>
              <a:t>Increased Complexity: </a:t>
            </a:r>
            <a:r>
              <a:rPr lang="en-US" altLang="zh-CN" sz="1900" dirty="0"/>
              <a:t>Increased</a:t>
            </a:r>
            <a:r>
              <a:rPr lang="en-US" altLang="zh-CN" sz="2400" dirty="0"/>
              <a:t> </a:t>
            </a:r>
            <a:r>
              <a:rPr lang="en-US" altLang="zh-CN" sz="1900" dirty="0"/>
              <a:t>net size after expansion</a:t>
            </a:r>
            <a:endParaRPr lang="zh-CN" altLang="en-US" sz="1900" dirty="0"/>
          </a:p>
        </p:txBody>
      </p:sp>
    </p:spTree>
    <p:extLst>
      <p:ext uri="{BB962C8B-B14F-4D97-AF65-F5344CB8AC3E}">
        <p14:creationId xmlns:p14="http://schemas.microsoft.com/office/powerpoint/2010/main" val="138676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133778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13312"/>
            <a:ext cx="3028950" cy="5431376"/>
          </a:xfrm>
        </p:spPr>
        <p:txBody>
          <a:bodyPr>
            <a:normAutofit/>
          </a:bodyPr>
          <a:lstStyle/>
          <a:p>
            <a:r>
              <a:rPr lang="en-US" sz="3700"/>
              <a:t>4. Traditional Optimization: CDC-aware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83277" y="162838"/>
            <a:ext cx="5298509" cy="685800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Ensures safe optimization in multi-clock designs.</a:t>
            </a:r>
          </a:p>
          <a:p>
            <a:pPr lvl="1"/>
            <a:r>
              <a:rPr lang="en-US" sz="2000" dirty="0"/>
              <a:t>Protects synchronization structures.</a:t>
            </a:r>
          </a:p>
          <a:p>
            <a:pPr lvl="1"/>
            <a:r>
              <a:rPr lang="en-US" sz="2000" dirty="0"/>
              <a:t>Improves timing/area without causing CDC violations.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693E24-1236-143B-C507-CC03FCC24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 descr="绿色的标志&#10;&#10;AI 生成的内容可能不正确。">
            <a:extLst>
              <a:ext uri="{FF2B5EF4-FFF2-40B4-BE49-F238E27FC236}">
                <a16:creationId xmlns:a16="http://schemas.microsoft.com/office/drawing/2014/main" id="{9C22114B-1159-D86F-B22E-40564DE3C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6559" y="274638"/>
            <a:ext cx="2104372" cy="5987745"/>
          </a:xfr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5AEE095-0310-599D-54DF-968F7A643B90}"/>
              </a:ext>
            </a:extLst>
          </p:cNvPr>
          <p:cNvCxnSpPr/>
          <p:nvPr/>
        </p:nvCxnSpPr>
        <p:spPr>
          <a:xfrm flipH="1">
            <a:off x="5136776" y="1703294"/>
            <a:ext cx="9950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38AE8B4-7383-E11B-D22C-E702D4CB5B7C}"/>
              </a:ext>
            </a:extLst>
          </p:cNvPr>
          <p:cNvSpPr txBox="1"/>
          <p:nvPr/>
        </p:nvSpPr>
        <p:spPr>
          <a:xfrm>
            <a:off x="6185647" y="1441684"/>
            <a:ext cx="2958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Without this step, synchronized structures will be destroyed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800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31735-79EC-6789-B484-478C18435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SpyGlass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7869D1-2F1E-759D-AF7E-A39DFA9EB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7F78287-7CEA-8B18-A231-D4244962AE19}"/>
              </a:ext>
            </a:extLst>
          </p:cNvPr>
          <p:cNvSpPr/>
          <p:nvPr/>
        </p:nvSpPr>
        <p:spPr>
          <a:xfrm>
            <a:off x="3582444" y="1721394"/>
            <a:ext cx="1778696" cy="80166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Use SDC(Synopsys Design Constraints)to detect clock domain</a:t>
            </a:r>
            <a:endParaRPr lang="zh-CN" altLang="en-US" sz="14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609797D-F0A4-FDEA-E20F-400C4C0E8648}"/>
              </a:ext>
            </a:extLst>
          </p:cNvPr>
          <p:cNvSpPr/>
          <p:nvPr/>
        </p:nvSpPr>
        <p:spPr>
          <a:xfrm>
            <a:off x="3582444" y="2955774"/>
            <a:ext cx="1778696" cy="87405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Check if clock domain crossings correct</a:t>
            </a:r>
            <a:endParaRPr lang="zh-CN" altLang="en-US" sz="1400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51898FA-752D-4490-8308-DEB1514FB7B2}"/>
              </a:ext>
            </a:extLst>
          </p:cNvPr>
          <p:cNvSpPr/>
          <p:nvPr/>
        </p:nvSpPr>
        <p:spPr>
          <a:xfrm>
            <a:off x="3582444" y="4363233"/>
            <a:ext cx="1778696" cy="87405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Generate CDC restriction file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F97D704-B60B-8292-3A88-BAB8B6211FE4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4471792" y="2523060"/>
            <a:ext cx="0" cy="432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E853BF5-D3C2-9896-8170-89E20FDB0B68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4471792" y="3829833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FF2DAF2-5EC2-F5B0-7EAF-CEA528FFC4E1}"/>
              </a:ext>
            </a:extLst>
          </p:cNvPr>
          <p:cNvSpPr txBox="1"/>
          <p:nvPr/>
        </p:nvSpPr>
        <p:spPr>
          <a:xfrm>
            <a:off x="5495364" y="1919461"/>
            <a:ext cx="3397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create_clock</a:t>
            </a:r>
            <a:r>
              <a:rPr lang="en-US" altLang="zh-CN" sz="1200" dirty="0"/>
              <a:t> -name </a:t>
            </a:r>
            <a:r>
              <a:rPr lang="en-US" altLang="zh-CN" sz="1200" dirty="0" err="1"/>
              <a:t>clk</a:t>
            </a:r>
            <a:r>
              <a:rPr lang="en-US" altLang="zh-CN" sz="1200" dirty="0"/>
              <a:t> -period 10 [</a:t>
            </a:r>
            <a:r>
              <a:rPr lang="en-US" altLang="zh-CN" sz="1200" dirty="0" err="1"/>
              <a:t>get_ports</a:t>
            </a:r>
            <a:r>
              <a:rPr lang="en-US" altLang="zh-CN" sz="1200" dirty="0"/>
              <a:t> </a:t>
            </a:r>
            <a:r>
              <a:rPr lang="en-US" altLang="zh-CN" sz="1200" dirty="0" err="1"/>
              <a:t>clk</a:t>
            </a:r>
            <a:r>
              <a:rPr lang="en-US" altLang="zh-CN" sz="1200" dirty="0"/>
              <a:t>]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9140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F366769-B68C-01ED-0E0D-EAF6E6729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altLang="zh-CN" sz="4200"/>
              <a:t>Flattening optimization + CDC protection</a:t>
            </a:r>
            <a:endParaRPr lang="zh-CN" altLang="en-US" sz="42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E8B46A-E60B-B1B4-0EA0-F9904869D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endParaRPr lang="zh-CN" altLang="en-US" sz="21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859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5. AI/ML for RTL Timing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 dirty="0"/>
              <a:t>Machine learning predicts path-level delay from RTL.</a:t>
            </a:r>
          </a:p>
          <a:p>
            <a:pPr lvl="1"/>
            <a:r>
              <a:rPr lang="en-US" sz="1700" dirty="0"/>
              <a:t>Uses Abstract Syntax Tree (AST) + </a:t>
            </a:r>
            <a:r>
              <a:rPr lang="en-US" sz="1700" dirty="0" err="1"/>
              <a:t>XGBoost</a:t>
            </a:r>
            <a:r>
              <a:rPr lang="en-US" sz="1700" dirty="0"/>
              <a:t>.</a:t>
            </a:r>
          </a:p>
          <a:p>
            <a:pPr lvl="1"/>
            <a:r>
              <a:rPr lang="en-US" sz="1700" dirty="0"/>
              <a:t>Provides fast identification of timing-critical paths.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内容占位符 4" descr="图示&#10;&#10;AI 生成的内容可能不正确。">
            <a:extLst>
              <a:ext uri="{FF2B5EF4-FFF2-40B4-BE49-F238E27FC236}">
                <a16:creationId xmlns:a16="http://schemas.microsoft.com/office/drawing/2014/main" id="{6E6917AB-B7B4-44C8-4F50-1D20B83495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557893"/>
            <a:ext cx="6930029" cy="3742215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56372" y="0"/>
            <a:ext cx="1487628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72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6. ML Timing Prediction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US" sz="2100" dirty="0"/>
              <a:t>Parsing RTL into AST using </a:t>
            </a:r>
            <a:r>
              <a:rPr lang="en-US" sz="2100" dirty="0" err="1">
                <a:solidFill>
                  <a:schemeClr val="accent2"/>
                </a:solidFill>
              </a:rPr>
              <a:t>Verilator</a:t>
            </a:r>
            <a:r>
              <a:rPr lang="en-US" sz="2100" dirty="0"/>
              <a:t>.</a:t>
            </a:r>
          </a:p>
          <a:p>
            <a:pPr lvl="1"/>
            <a:r>
              <a:rPr lang="en-US" sz="2100" dirty="0"/>
              <a:t>Extracting graph-based path features.</a:t>
            </a:r>
          </a:p>
          <a:p>
            <a:pPr lvl="1"/>
            <a:r>
              <a:rPr lang="en-US" sz="2100" dirty="0"/>
              <a:t>Training ML model using post-synthesis delay labels.</a:t>
            </a:r>
          </a:p>
          <a:p>
            <a:pPr lvl="1"/>
            <a:r>
              <a:rPr lang="en-US" sz="2100" dirty="0"/>
              <a:t>Achieves ~91% accuracy with 40× speedup.</a:t>
            </a:r>
          </a:p>
          <a:p>
            <a:pPr lvl="1"/>
            <a:r>
              <a:rPr lang="en-US" sz="1800" dirty="0">
                <a:solidFill>
                  <a:schemeClr val="accent2"/>
                </a:solidFill>
              </a:rPr>
              <a:t>AST Operation </a:t>
            </a:r>
            <a:r>
              <a:rPr lang="en-US" sz="1800" dirty="0" err="1">
                <a:solidFill>
                  <a:schemeClr val="accent2"/>
                </a:solidFill>
              </a:rPr>
              <a:t>Set:</a:t>
            </a:r>
            <a:r>
              <a:rPr lang="en-US" altLang="zh-CN" sz="1800" dirty="0" err="1">
                <a:solidFill>
                  <a:schemeClr val="accent2"/>
                </a:solidFill>
              </a:rPr>
              <a:t>Add</a:t>
            </a:r>
            <a:r>
              <a:rPr lang="en-US" altLang="zh-CN" sz="1800" dirty="0">
                <a:solidFill>
                  <a:schemeClr val="accent2"/>
                </a:solidFill>
              </a:rPr>
              <a:t> / Mul / Compare / If / Case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流程图">
            <a:extLst>
              <a:ext uri="{FF2B5EF4-FFF2-40B4-BE49-F238E27FC236}">
                <a16:creationId xmlns:a16="http://schemas.microsoft.com/office/drawing/2014/main" id="{5E6AC37D-AAB0-2094-BFB1-E2DE1096F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525CC-1E9C-8376-5406-C36142C98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AST process simple example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8E2A32-19D1-2DF5-0E51-2126625EAC87}"/>
              </a:ext>
            </a:extLst>
          </p:cNvPr>
          <p:cNvSpPr/>
          <p:nvPr/>
        </p:nvSpPr>
        <p:spPr>
          <a:xfrm>
            <a:off x="932330" y="1600200"/>
            <a:ext cx="1766047" cy="1981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process(</a:t>
            </a:r>
            <a:r>
              <a:rPr lang="en-US" altLang="zh-CN" sz="1200" dirty="0" err="1"/>
              <a:t>clk</a:t>
            </a:r>
            <a:r>
              <a:rPr lang="en-US" altLang="zh-CN" sz="1200" dirty="0"/>
              <a:t>)</a:t>
            </a:r>
          </a:p>
          <a:p>
            <a:pPr algn="ctr"/>
            <a:r>
              <a:rPr lang="en-US" altLang="zh-CN" sz="1200" dirty="0"/>
              <a:t>begin</a:t>
            </a:r>
          </a:p>
          <a:p>
            <a:pPr algn="ctr"/>
            <a:r>
              <a:rPr lang="en-US" altLang="zh-CN" sz="1200" dirty="0"/>
              <a:t>  if </a:t>
            </a:r>
            <a:r>
              <a:rPr lang="en-US" altLang="zh-CN" sz="1200" dirty="0" err="1"/>
              <a:t>rising_edge</a:t>
            </a:r>
            <a:r>
              <a:rPr lang="en-US" altLang="zh-CN" sz="1200" dirty="0"/>
              <a:t>(</a:t>
            </a:r>
            <a:r>
              <a:rPr lang="en-US" altLang="zh-CN" sz="1200" dirty="0" err="1"/>
              <a:t>clk</a:t>
            </a:r>
            <a:r>
              <a:rPr lang="en-US" altLang="zh-CN" sz="1200" dirty="0"/>
              <a:t>) then</a:t>
            </a:r>
          </a:p>
          <a:p>
            <a:pPr algn="ctr"/>
            <a:r>
              <a:rPr lang="en-US" altLang="zh-CN" sz="1200" dirty="0"/>
              <a:t>    if </a:t>
            </a:r>
            <a:r>
              <a:rPr lang="en-US" altLang="zh-CN" sz="1200" dirty="0" err="1"/>
              <a:t>en</a:t>
            </a:r>
            <a:r>
              <a:rPr lang="en-US" altLang="zh-CN" sz="1200" dirty="0"/>
              <a:t> = '1' then</a:t>
            </a:r>
          </a:p>
          <a:p>
            <a:pPr algn="ctr"/>
            <a:r>
              <a:rPr lang="en-US" altLang="zh-CN" sz="1200" dirty="0"/>
              <a:t>      q &lt;= a + b;</a:t>
            </a:r>
          </a:p>
          <a:p>
            <a:pPr algn="ctr"/>
            <a:r>
              <a:rPr lang="en-US" altLang="zh-CN" sz="1200" dirty="0"/>
              <a:t>else</a:t>
            </a:r>
          </a:p>
          <a:p>
            <a:pPr algn="ctr"/>
            <a:r>
              <a:rPr lang="en-US" altLang="zh-CN" sz="1200" dirty="0"/>
              <a:t>      q &lt;= a;</a:t>
            </a:r>
          </a:p>
          <a:p>
            <a:pPr algn="ctr"/>
            <a:r>
              <a:rPr lang="en-US" altLang="zh-CN" sz="1200" dirty="0"/>
              <a:t>    end if;</a:t>
            </a:r>
          </a:p>
          <a:p>
            <a:pPr algn="ctr"/>
            <a:r>
              <a:rPr lang="en-US" altLang="zh-CN" sz="1200" dirty="0"/>
              <a:t>  end if;</a:t>
            </a:r>
          </a:p>
          <a:p>
            <a:pPr algn="ctr"/>
            <a:r>
              <a:rPr lang="en-US" altLang="zh-CN" sz="1200" dirty="0"/>
              <a:t>end process;</a:t>
            </a:r>
            <a:endParaRPr lang="zh-CN" altLang="en-US" sz="1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EB54AB-44AB-C32D-4A6D-255250EDEC7E}"/>
              </a:ext>
            </a:extLst>
          </p:cNvPr>
          <p:cNvSpPr/>
          <p:nvPr/>
        </p:nvSpPr>
        <p:spPr>
          <a:xfrm>
            <a:off x="3917578" y="1862416"/>
            <a:ext cx="1891552" cy="14567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Process</a:t>
            </a:r>
          </a:p>
          <a:p>
            <a:r>
              <a:rPr lang="en-US" altLang="zh-CN" sz="1200" dirty="0"/>
              <a:t> └─ If (</a:t>
            </a:r>
            <a:r>
              <a:rPr lang="en-US" altLang="zh-CN" sz="1200" dirty="0" err="1"/>
              <a:t>rising_edge</a:t>
            </a:r>
            <a:r>
              <a:rPr lang="en-US" altLang="zh-CN" sz="1200" dirty="0"/>
              <a:t>(</a:t>
            </a:r>
            <a:r>
              <a:rPr lang="en-US" altLang="zh-CN" sz="1200" dirty="0" err="1"/>
              <a:t>clk</a:t>
            </a:r>
            <a:r>
              <a:rPr lang="en-US" altLang="zh-CN" sz="1200" dirty="0"/>
              <a:t>))</a:t>
            </a:r>
          </a:p>
          <a:p>
            <a:r>
              <a:rPr lang="en-US" altLang="zh-CN" sz="1200" dirty="0"/>
              <a:t>     └─ If (</a:t>
            </a:r>
            <a:r>
              <a:rPr lang="en-US" altLang="zh-CN" sz="1200" dirty="0" err="1"/>
              <a:t>en</a:t>
            </a:r>
            <a:r>
              <a:rPr lang="en-US" altLang="zh-CN" sz="1200" dirty="0"/>
              <a:t> = '1')</a:t>
            </a:r>
          </a:p>
          <a:p>
            <a:r>
              <a:rPr lang="en-US" altLang="zh-CN" sz="1200" dirty="0"/>
              <a:t>         ├Then: Assign(q, Add)</a:t>
            </a:r>
          </a:p>
          <a:p>
            <a:r>
              <a:rPr lang="en-US" altLang="zh-CN" sz="1200" dirty="0"/>
              <a:t>          └─ Else: Assign(q, a)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00CDFE3-3E29-8E77-47F7-A1CA325235E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698377" y="2590799"/>
            <a:ext cx="1219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326E7938-E6C9-4E34-016B-53F9F9C334E6}"/>
              </a:ext>
            </a:extLst>
          </p:cNvPr>
          <p:cNvSpPr/>
          <p:nvPr/>
        </p:nvSpPr>
        <p:spPr>
          <a:xfrm>
            <a:off x="6355976" y="2226606"/>
            <a:ext cx="1981201" cy="72838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dirty="0"/>
              <a:t>a / b → ADD → q (register)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5E44861-FD2B-C359-6974-123BC34FAEA2}"/>
              </a:ext>
            </a:extLst>
          </p:cNvPr>
          <p:cNvCxnSpPr>
            <a:stCxn id="5" idx="3"/>
          </p:cNvCxnSpPr>
          <p:nvPr/>
        </p:nvCxnSpPr>
        <p:spPr>
          <a:xfrm>
            <a:off x="5809130" y="2590799"/>
            <a:ext cx="5468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2634A710-FD18-B978-E41B-F404881AC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23" y="4742329"/>
            <a:ext cx="2227730" cy="90543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0" indent="0" algn="ctr">
              <a:buNone/>
            </a:pPr>
            <a:r>
              <a:rPr lang="en-US" altLang="zh-CN" sz="1200" dirty="0"/>
              <a:t>[</a:t>
            </a:r>
            <a:r>
              <a:rPr lang="en-US" altLang="zh-CN" sz="1200" dirty="0" err="1"/>
              <a:t>logic_depth</a:t>
            </a:r>
            <a:r>
              <a:rPr lang="en-US" altLang="zh-CN" sz="1200" dirty="0"/>
              <a:t> = 1,</a:t>
            </a:r>
          </a:p>
          <a:p>
            <a:pPr marL="0" indent="0" algn="ctr">
              <a:buNone/>
            </a:pPr>
            <a:r>
              <a:rPr lang="en-US" altLang="zh-CN" sz="1200" dirty="0"/>
              <a:t> </a:t>
            </a:r>
            <a:r>
              <a:rPr lang="en-US" altLang="zh-CN" sz="1200" dirty="0" err="1"/>
              <a:t>arith_ops</a:t>
            </a:r>
            <a:r>
              <a:rPr lang="en-US" altLang="zh-CN" sz="1200" dirty="0"/>
              <a:t>   = 1,</a:t>
            </a:r>
          </a:p>
          <a:p>
            <a:pPr marL="0" indent="0" algn="ctr">
              <a:buNone/>
            </a:pPr>
            <a:r>
              <a:rPr lang="en-US" altLang="zh-CN" sz="1200" dirty="0"/>
              <a:t> </a:t>
            </a:r>
            <a:r>
              <a:rPr lang="en-US" altLang="zh-CN" sz="1200" dirty="0" err="1"/>
              <a:t>bitwidth</a:t>
            </a:r>
            <a:r>
              <a:rPr lang="en-US" altLang="zh-CN" sz="1200" dirty="0"/>
              <a:t>    = 32,</a:t>
            </a:r>
          </a:p>
          <a:p>
            <a:pPr marL="0" indent="0" algn="ctr">
              <a:buNone/>
            </a:pPr>
            <a:r>
              <a:rPr lang="en-US" altLang="zh-CN" sz="1200" dirty="0"/>
              <a:t> conditional = 1]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1422843-E0D4-3337-4F09-21F152E2B0E6}"/>
              </a:ext>
            </a:extLst>
          </p:cNvPr>
          <p:cNvCxnSpPr>
            <a:stCxn id="8" idx="2"/>
            <a:endCxn id="11" idx="0"/>
          </p:cNvCxnSpPr>
          <p:nvPr/>
        </p:nvCxnSpPr>
        <p:spPr>
          <a:xfrm flipH="1">
            <a:off x="4968688" y="2954989"/>
            <a:ext cx="2377889" cy="17873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EC200AC-2792-CA0D-BCFC-D8E824FD8353}"/>
              </a:ext>
            </a:extLst>
          </p:cNvPr>
          <p:cNvCxnSpPr>
            <a:stCxn id="11" idx="3"/>
          </p:cNvCxnSpPr>
          <p:nvPr/>
        </p:nvCxnSpPr>
        <p:spPr>
          <a:xfrm>
            <a:off x="6082553" y="5195047"/>
            <a:ext cx="685800" cy="4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85009D9-8739-412C-44F3-824F363C6053}"/>
              </a:ext>
            </a:extLst>
          </p:cNvPr>
          <p:cNvSpPr/>
          <p:nvPr/>
        </p:nvSpPr>
        <p:spPr>
          <a:xfrm>
            <a:off x="6768353" y="4796117"/>
            <a:ext cx="1398495" cy="79785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ML Model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6F5BACB-509A-5BFC-817C-63C290BECEBB}"/>
              </a:ext>
            </a:extLst>
          </p:cNvPr>
          <p:cNvSpPr txBox="1"/>
          <p:nvPr/>
        </p:nvSpPr>
        <p:spPr>
          <a:xfrm>
            <a:off x="1447800" y="3822558"/>
            <a:ext cx="7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VHDL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C70AF74-7725-8CCB-3C7C-E309ABF41188}"/>
              </a:ext>
            </a:extLst>
          </p:cNvPr>
          <p:cNvSpPr txBox="1"/>
          <p:nvPr/>
        </p:nvSpPr>
        <p:spPr>
          <a:xfrm>
            <a:off x="4421840" y="3801266"/>
            <a:ext cx="735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AST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2DDA4AD-5379-26E5-A7D8-3EC0220220A3}"/>
              </a:ext>
            </a:extLst>
          </p:cNvPr>
          <p:cNvSpPr txBox="1"/>
          <p:nvPr/>
        </p:nvSpPr>
        <p:spPr>
          <a:xfrm>
            <a:off x="6674223" y="3822558"/>
            <a:ext cx="1586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Design Graph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A2DF4AB-9FFB-911F-D632-2822C8E90394}"/>
              </a:ext>
            </a:extLst>
          </p:cNvPr>
          <p:cNvSpPr txBox="1"/>
          <p:nvPr/>
        </p:nvSpPr>
        <p:spPr>
          <a:xfrm>
            <a:off x="3932144" y="5947424"/>
            <a:ext cx="207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Path-level features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7779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900" dirty="0"/>
              <a:t>7. </a:t>
            </a:r>
            <a:r>
              <a:rPr lang="en-US" sz="4900" dirty="0" err="1"/>
              <a:t>MasterRTL</a:t>
            </a:r>
            <a:r>
              <a:rPr lang="en-US" sz="4900" dirty="0"/>
              <a:t> Framework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 dirty="0"/>
              <a:t>Pre-synthesis PPA estimation based on bit-level representation.</a:t>
            </a:r>
          </a:p>
          <a:p>
            <a:pPr lvl="1"/>
            <a:r>
              <a:rPr lang="en-US" sz="2100" dirty="0"/>
              <a:t>Introduces Simple Operator Graph (SOG).</a:t>
            </a:r>
          </a:p>
          <a:p>
            <a:pPr lvl="1"/>
            <a:r>
              <a:rPr lang="en-US" sz="2100" dirty="0"/>
              <a:t>Separates models for timing, area, and power prediction.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8. Simple Operator Graph (SOG)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Decomposes RTL operations into single-bit primitives.</a:t>
            </a:r>
          </a:p>
          <a:p>
            <a:pPr lvl="1"/>
            <a:r>
              <a:rPr lang="en-US" sz="1700" dirty="0"/>
              <a:t>Graph resembles gate-level netlist for ML readiness.</a:t>
            </a:r>
          </a:p>
          <a:p>
            <a:pPr lvl="1"/>
            <a:r>
              <a:rPr lang="en-US" sz="1700" dirty="0"/>
              <a:t>Improves generalization across different designs.</a:t>
            </a:r>
          </a:p>
          <a:p>
            <a:pPr lvl="1"/>
            <a:r>
              <a:rPr lang="en-US" sz="1700" dirty="0">
                <a:solidFill>
                  <a:schemeClr val="accent2"/>
                </a:solidFill>
              </a:rPr>
              <a:t>SOG only contains simple operation set: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A5EA9E-8A9B-9639-D1BD-F8120BD1B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1413" y="4809136"/>
            <a:ext cx="186465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XOR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NOT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MUX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Register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646BC-7DFC-34F7-02E8-145D9FCCF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E157B5-87DC-E4BC-4E6F-35259A4E4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BFA7411-E638-3693-6EE2-1C738DE7D107}"/>
              </a:ext>
            </a:extLst>
          </p:cNvPr>
          <p:cNvSpPr/>
          <p:nvPr/>
        </p:nvSpPr>
        <p:spPr>
          <a:xfrm>
            <a:off x="1071284" y="1600200"/>
            <a:ext cx="1255059" cy="107576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q&lt;=a + b;</a:t>
            </a:r>
            <a:endParaRPr lang="zh-CN" altLang="en-US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9F3F623-3912-C720-EAAE-B59D3EE95FB3}"/>
              </a:ext>
            </a:extLst>
          </p:cNvPr>
          <p:cNvCxnSpPr>
            <a:stCxn id="4" idx="3"/>
          </p:cNvCxnSpPr>
          <p:nvPr/>
        </p:nvCxnSpPr>
        <p:spPr>
          <a:xfrm flipV="1">
            <a:off x="2326343" y="2136868"/>
            <a:ext cx="1013011" cy="1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3976194-2EA9-3078-528F-F1D576AA4D56}"/>
              </a:ext>
            </a:extLst>
          </p:cNvPr>
          <p:cNvSpPr/>
          <p:nvPr/>
        </p:nvSpPr>
        <p:spPr>
          <a:xfrm>
            <a:off x="3339354" y="1274203"/>
            <a:ext cx="3339352" cy="177683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q[0] = a[0] XOR b[0]</a:t>
            </a:r>
          </a:p>
          <a:p>
            <a:pPr algn="ctr"/>
            <a:r>
              <a:rPr lang="en-US" altLang="zh-CN" sz="1100" dirty="0"/>
              <a:t>c1   = a[0] AND b[0]</a:t>
            </a:r>
          </a:p>
          <a:p>
            <a:pPr algn="ctr"/>
            <a:r>
              <a:rPr lang="en-US" altLang="zh-CN" sz="1100" dirty="0"/>
              <a:t>q[1] = a[1] XOR b[1] XOR c1</a:t>
            </a:r>
          </a:p>
          <a:p>
            <a:pPr algn="ctr"/>
            <a:r>
              <a:rPr lang="en-US" altLang="zh-CN" sz="1100" dirty="0"/>
              <a:t>c2   = (a[1] AND b[1]) OR (c1 AND (a[1] XOR b[1]))</a:t>
            </a:r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...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4C8F8F-A2C5-BA8A-7B1A-1E9B6D0D8110}"/>
              </a:ext>
            </a:extLst>
          </p:cNvPr>
          <p:cNvSpPr txBox="1"/>
          <p:nvPr/>
        </p:nvSpPr>
        <p:spPr>
          <a:xfrm>
            <a:off x="6678706" y="2058889"/>
            <a:ext cx="2146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Parsing into bit-level 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4FF346F-C1DC-9A17-16B3-F909566E657B}"/>
              </a:ext>
            </a:extLst>
          </p:cNvPr>
          <p:cNvSpPr/>
          <p:nvPr/>
        </p:nvSpPr>
        <p:spPr>
          <a:xfrm>
            <a:off x="3339354" y="3692289"/>
            <a:ext cx="3339352" cy="220760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a[0] ─┐</a:t>
            </a:r>
          </a:p>
          <a:p>
            <a:pPr algn="ctr"/>
            <a:r>
              <a:rPr lang="en-US" altLang="zh-CN" sz="1100" dirty="0"/>
              <a:t>      XOR ── q[0]</a:t>
            </a:r>
          </a:p>
          <a:p>
            <a:pPr algn="ctr"/>
            <a:r>
              <a:rPr lang="en-US" altLang="zh-CN" sz="1100" dirty="0"/>
              <a:t>b[0] ─┘</a:t>
            </a:r>
          </a:p>
          <a:p>
            <a:pPr algn="ctr"/>
            <a:r>
              <a:rPr lang="en-US" altLang="zh-CN" sz="1100" dirty="0"/>
              <a:t>        \</a:t>
            </a:r>
          </a:p>
          <a:p>
            <a:pPr algn="ctr"/>
            <a:r>
              <a:rPr lang="en-US" altLang="zh-CN" sz="1100" dirty="0"/>
              <a:t>         AND ── c1</a:t>
            </a:r>
          </a:p>
          <a:p>
            <a:pPr algn="ctr"/>
            <a:endParaRPr lang="en-US" altLang="zh-CN" sz="1100" dirty="0"/>
          </a:p>
          <a:p>
            <a:pPr algn="ctr"/>
            <a:r>
              <a:rPr lang="en-US" altLang="zh-CN" sz="1100" dirty="0"/>
              <a:t>a[1] ─┐</a:t>
            </a:r>
          </a:p>
          <a:p>
            <a:pPr algn="ctr"/>
            <a:r>
              <a:rPr lang="en-US" altLang="zh-CN" sz="1100" dirty="0"/>
              <a:t>      XOR ── t1 ─┐</a:t>
            </a:r>
          </a:p>
          <a:p>
            <a:pPr algn="ctr"/>
            <a:r>
              <a:rPr lang="en-US" altLang="zh-CN" sz="1100" dirty="0"/>
              <a:t>b[1] ─┘           XOR ── q[1]</a:t>
            </a:r>
          </a:p>
          <a:p>
            <a:pPr algn="ctr"/>
            <a:r>
              <a:rPr lang="en-US" altLang="zh-CN" sz="1100" dirty="0"/>
              <a:t>           c1 ───┘</a:t>
            </a:r>
          </a:p>
          <a:p>
            <a:pPr algn="ctr"/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BB82652-9000-D50E-9C65-F5DA6B6CD4EE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5009030" y="3051038"/>
            <a:ext cx="0" cy="641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736C6A9-48AF-CAA8-D31E-33F91F21FF31}"/>
              </a:ext>
            </a:extLst>
          </p:cNvPr>
          <p:cNvSpPr txBox="1"/>
          <p:nvPr/>
        </p:nvSpPr>
        <p:spPr>
          <a:xfrm>
            <a:off x="4365338" y="6124059"/>
            <a:ext cx="1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SOG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1081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FE9C0-36E3-8FB5-78C4-491EA38B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use SOG for ML/AI models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295257-A32E-D38B-9470-4C1E15CA7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For Timing/Performance : </a:t>
            </a:r>
          </a:p>
          <a:p>
            <a:pPr marL="0" indent="0">
              <a:buNone/>
            </a:pPr>
            <a:r>
              <a:rPr lang="en-US" altLang="zh-CN" sz="2400" dirty="0"/>
              <a:t>      1):choose a path between register and register</a:t>
            </a:r>
          </a:p>
          <a:p>
            <a:pPr marL="0" indent="0">
              <a:buNone/>
            </a:pPr>
            <a:r>
              <a:rPr lang="en-US" altLang="zh-CN" sz="2400" dirty="0"/>
              <a:t>      2):Feature Vector: Extract bit-level </a:t>
            </a:r>
            <a:r>
              <a:rPr lang="en-US" altLang="zh-CN" sz="2400" dirty="0" err="1"/>
              <a:t>depth,numbers</a:t>
            </a:r>
            <a:r>
              <a:rPr lang="en-US" altLang="zh-CN" sz="2400" dirty="0"/>
              <a:t> of              XOR/AND/MUX gates</a:t>
            </a:r>
          </a:p>
          <a:p>
            <a:pPr marL="0" indent="0">
              <a:buNone/>
            </a:pPr>
            <a:r>
              <a:rPr lang="en-US" altLang="zh-CN" sz="2400" dirty="0"/>
              <a:t>       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49B41F44-BF86-6A56-00A2-A2BA9E870BA0}"/>
              </a:ext>
            </a:extLst>
          </p:cNvPr>
          <p:cNvCxnSpPr/>
          <p:nvPr/>
        </p:nvCxnSpPr>
        <p:spPr>
          <a:xfrm>
            <a:off x="3092824" y="3281082"/>
            <a:ext cx="0" cy="2689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283E6A7-15C8-4FF9-06F0-09AD4E5AFF4A}"/>
              </a:ext>
            </a:extLst>
          </p:cNvPr>
          <p:cNvSpPr/>
          <p:nvPr/>
        </p:nvSpPr>
        <p:spPr>
          <a:xfrm>
            <a:off x="1219202" y="3550024"/>
            <a:ext cx="3747243" cy="42134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400" dirty="0"/>
          </a:p>
          <a:p>
            <a:pPr algn="ctr"/>
            <a:r>
              <a:rPr lang="en-US" altLang="zh-CN" sz="1400" dirty="0"/>
              <a:t>[depth=14, </a:t>
            </a:r>
            <a:r>
              <a:rPr lang="en-US" altLang="zh-CN" sz="1400" dirty="0" err="1"/>
              <a:t>xor</a:t>
            </a:r>
            <a:r>
              <a:rPr lang="en-US" altLang="zh-CN" sz="1400" dirty="0"/>
              <a:t>=6, and=5, mux=3, </a:t>
            </a:r>
            <a:r>
              <a:rPr lang="en-US" altLang="zh-CN" sz="1400" dirty="0" err="1"/>
              <a:t>reg_dist</a:t>
            </a:r>
            <a:r>
              <a:rPr lang="en-US" altLang="zh-CN" sz="1400" dirty="0"/>
              <a:t>=1]</a:t>
            </a:r>
          </a:p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6167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7C5C3-A3B7-0F68-F4B4-588D55578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use SOG for ML/AI models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B254E2-2748-DE61-C11C-7095B9B9C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For Area Goal: The features we are getting are:</a:t>
            </a:r>
          </a:p>
          <a:p>
            <a:pPr marL="0" indent="0">
              <a:buNone/>
            </a:pPr>
            <a:r>
              <a:rPr lang="en-US" altLang="zh-CN" sz="2400" dirty="0"/>
              <a:t>     1):Number of AND nodes</a:t>
            </a:r>
          </a:p>
          <a:p>
            <a:pPr marL="0" indent="0">
              <a:buNone/>
            </a:pPr>
            <a:r>
              <a:rPr lang="en-US" altLang="zh-CN" sz="2400" dirty="0"/>
              <a:t>     2):Number of XOR nodes</a:t>
            </a:r>
          </a:p>
          <a:p>
            <a:pPr marL="0" indent="0">
              <a:buNone/>
            </a:pPr>
            <a:r>
              <a:rPr lang="en-US" altLang="zh-CN" sz="2400" dirty="0"/>
              <a:t>     3):</a:t>
            </a:r>
            <a:r>
              <a:rPr lang="en-US" altLang="zh-CN" sz="2400" dirty="0">
                <a:solidFill>
                  <a:schemeClr val="accent2"/>
                </a:solidFill>
              </a:rPr>
              <a:t>Number of registers(most crucial one as FF area is much larger than XOR or AND!!)</a:t>
            </a:r>
          </a:p>
          <a:p>
            <a:pPr marL="0" indent="0">
              <a:buNone/>
            </a:pPr>
            <a:r>
              <a:rPr lang="en-US" altLang="zh-CN" sz="2400" dirty="0"/>
              <a:t>     4):Total numbers of Nodes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9511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DC4C61-71CB-07A3-03A0-2417A037D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use SOG for ML/AI models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13C14D-709A-5B93-B913-F48AFDF21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For Power goal: The power here is dynamic power:</a:t>
            </a:r>
          </a:p>
          <a:p>
            <a:pPr marL="0" indent="0">
              <a:buNone/>
            </a:pPr>
            <a:r>
              <a:rPr lang="en-US" altLang="zh-CN" sz="2400" dirty="0"/>
              <a:t>                 </a:t>
            </a:r>
          </a:p>
          <a:p>
            <a:pPr marL="0" indent="0">
              <a:buNone/>
            </a:pPr>
            <a:r>
              <a:rPr lang="en-US" altLang="zh-CN" sz="2400" dirty="0"/>
              <a:t>      Features we want to get can be divided into 2 aspects: </a:t>
            </a:r>
          </a:p>
          <a:p>
            <a:pPr marL="0" indent="0">
              <a:buNone/>
            </a:pPr>
            <a:r>
              <a:rPr lang="en-US" altLang="zh-CN" sz="2400" dirty="0"/>
              <a:t>      1):Structure of SOG(AND/XOR/MUX/Register numbers)</a:t>
            </a:r>
          </a:p>
          <a:p>
            <a:pPr marL="0" indent="0">
              <a:buNone/>
            </a:pPr>
            <a:r>
              <a:rPr lang="en-US" altLang="zh-CN" sz="2400" dirty="0"/>
              <a:t>      2):toggle rate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>
                <a:solidFill>
                  <a:schemeClr val="accent2"/>
                </a:solidFill>
              </a:rPr>
              <a:t>The AI/Machine Learning model is learning:</a:t>
            </a:r>
          </a:p>
          <a:p>
            <a:pPr marL="0" indent="0">
              <a:buNone/>
            </a:pPr>
            <a:r>
              <a:rPr lang="zh-CN" altLang="en-US" sz="2400" dirty="0">
                <a:solidFill>
                  <a:schemeClr val="accent2"/>
                </a:solidFill>
              </a:rPr>
              <a:t>      </a:t>
            </a:r>
            <a:r>
              <a:rPr lang="en-US" altLang="zh-CN" sz="2400" dirty="0">
                <a:solidFill>
                  <a:schemeClr val="accent2"/>
                </a:solidFill>
              </a:rPr>
              <a:t>RTL</a:t>
            </a:r>
            <a:r>
              <a:rPr lang="zh-CN" altLang="en-US" sz="2400" dirty="0">
                <a:solidFill>
                  <a:schemeClr val="accent2"/>
                </a:solidFill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</a:rPr>
              <a:t>circuit</a:t>
            </a:r>
            <a:r>
              <a:rPr lang="zh-CN" altLang="en-US" sz="2400" dirty="0">
                <a:solidFill>
                  <a:schemeClr val="accent2"/>
                </a:solidFill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</a:rPr>
              <a:t>in</a:t>
            </a:r>
            <a:r>
              <a:rPr lang="zh-CN" altLang="en-US" sz="2400" dirty="0">
                <a:solidFill>
                  <a:schemeClr val="accent2"/>
                </a:solidFill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</a:rPr>
              <a:t>SOG</a:t>
            </a:r>
            <a:r>
              <a:rPr lang="zh-CN" altLang="en-US" sz="2400" dirty="0">
                <a:solidFill>
                  <a:schemeClr val="accent2"/>
                </a:solidFill>
              </a:rPr>
              <a:t> </a:t>
            </a:r>
            <a:r>
              <a:rPr lang="en-US" altLang="zh-CN" sz="2400" dirty="0" err="1">
                <a:solidFill>
                  <a:schemeClr val="accent2"/>
                </a:solidFill>
              </a:rPr>
              <a:t>A+Toggle</a:t>
            </a:r>
            <a:r>
              <a:rPr lang="zh-CN" altLang="en-US" sz="2400" dirty="0">
                <a:solidFill>
                  <a:schemeClr val="accent2"/>
                </a:solidFill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</a:rPr>
              <a:t>rate</a:t>
            </a:r>
            <a:r>
              <a:rPr lang="zh-CN" altLang="en-US" sz="2400" dirty="0">
                <a:solidFill>
                  <a:schemeClr val="accent2"/>
                </a:solidFill>
              </a:rPr>
              <a:t> </a:t>
            </a:r>
            <a:r>
              <a:rPr lang="en-US" altLang="zh-CN" sz="2400" dirty="0">
                <a:solidFill>
                  <a:schemeClr val="accent2"/>
                </a:solidFill>
              </a:rPr>
              <a:t>B  -&gt; Power C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1086FEF-9AD3-AD7A-9AFD-1CBAB323D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623" y="2095604"/>
            <a:ext cx="2048161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02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833F6-FAA2-B6C0-6CF5-91F8C5C4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Comparison of AST&amp;SOG</a:t>
            </a:r>
            <a:endParaRPr lang="zh-CN" altLang="en-US" dirty="0"/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6945B63D-541A-CEEB-82F3-D90A2809B1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6403677"/>
              </p:ext>
            </p:extLst>
          </p:nvPr>
        </p:nvGraphicFramePr>
        <p:xfrm>
          <a:off x="457200" y="1600200"/>
          <a:ext cx="8229600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34119922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10087607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9394341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SOG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596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Expression level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Code/grammar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Bit-level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743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Near to gate-level?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Yes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549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Suitable for ML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Normal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Excellent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972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Suitable for PPA?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Partly(typically Timing)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Yes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7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Basic Unit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Expression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Logic gate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8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36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9. MasterRTL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100"/>
              <a:t>Correlation: Timing (0.96), Power (0.89), Area (0.98).</a:t>
            </a:r>
          </a:p>
          <a:p>
            <a:pPr lvl="1"/>
            <a:r>
              <a:rPr lang="en-US" sz="2100"/>
              <a:t>Requires ~5% of synthesis runtime.</a:t>
            </a:r>
          </a:p>
          <a:p>
            <a:pPr lvl="1"/>
            <a:r>
              <a:rPr lang="en-US" sz="2100"/>
              <a:t>Outperforms AST-based methods.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1"/>
            <a:ext cx="7266222" cy="1642969"/>
          </a:xfrm>
        </p:spPr>
        <p:txBody>
          <a:bodyPr anchor="b">
            <a:normAutofit/>
          </a:bodyPr>
          <a:lstStyle/>
          <a:p>
            <a:r>
              <a:rPr lang="en-US" sz="3500"/>
              <a:t>10. Commercial EDA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97" y="2418409"/>
            <a:ext cx="7266222" cy="3454358"/>
          </a:xfrm>
        </p:spPr>
        <p:txBody>
          <a:bodyPr anchor="t">
            <a:normAutofit/>
          </a:bodyPr>
          <a:lstStyle/>
          <a:p>
            <a:r>
              <a:rPr lang="en-US" sz="1700"/>
              <a:t>Synopsys Design Compiler: timing-, area-, power-aware synthesis.</a:t>
            </a:r>
          </a:p>
          <a:p>
            <a:pPr lvl="1"/>
            <a:r>
              <a:rPr lang="en-US" sz="1700"/>
              <a:t>Cadence Genus: parallel architecture, strong physical correlation.</a:t>
            </a:r>
          </a:p>
          <a:p>
            <a:pPr lvl="1"/>
            <a:r>
              <a:rPr lang="en-US" sz="1700"/>
              <a:t>Used for industry-grade optimization and signoff.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11. Open-Source Tools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US" sz="2100"/>
              <a:t>Yosys: open-source logic synthesis.</a:t>
            </a:r>
          </a:p>
          <a:p>
            <a:pPr lvl="1"/>
            <a:r>
              <a:rPr lang="en-US" sz="2100"/>
              <a:t>Verilator: fast simulation + AST extraction for ML.</a:t>
            </a:r>
          </a:p>
          <a:p>
            <a:pPr lvl="1"/>
            <a:r>
              <a:rPr lang="en-US" sz="2100"/>
              <a:t>OpenROAD: fully automated RTL-to-GDS flow.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12.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Traditional and AI-based methods complement each other.</a:t>
            </a:r>
          </a:p>
          <a:p>
            <a:pPr lvl="1"/>
            <a:r>
              <a:rPr lang="en-US" sz="1700"/>
              <a:t>AI enables faster, earlier PPA prediction.</a:t>
            </a:r>
          </a:p>
          <a:p>
            <a:pPr lvl="1"/>
            <a:r>
              <a:rPr lang="en-US" sz="1700"/>
              <a:t>Future direction: tighter integration with physical design 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2747</TotalTime>
  <Words>1090</Words>
  <Application>Microsoft Office PowerPoint</Application>
  <PresentationFormat>全屏显示(4:3)</PresentationFormat>
  <Paragraphs>187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AI-based RTL Code Analysis and Optimization</vt:lpstr>
      <vt:lpstr>1. Introduction</vt:lpstr>
      <vt:lpstr>IC Design Workflow</vt:lpstr>
      <vt:lpstr>2. RTL Optimization Targets</vt:lpstr>
      <vt:lpstr>3. Traditional Optimization: Hierarchical Flattening</vt:lpstr>
      <vt:lpstr>PowerPoint 演示文稿</vt:lpstr>
      <vt:lpstr>Automatic transformation </vt:lpstr>
      <vt:lpstr>Limitations?</vt:lpstr>
      <vt:lpstr>4. Traditional Optimization: CDC-aware Synthesis</vt:lpstr>
      <vt:lpstr>PowerPoint 演示文稿</vt:lpstr>
      <vt:lpstr>SpyGlass</vt:lpstr>
      <vt:lpstr>Flattening optimization + CDC protection</vt:lpstr>
      <vt:lpstr>5. AI/ML for RTL Timing Prediction</vt:lpstr>
      <vt:lpstr>PowerPoint 演示文稿</vt:lpstr>
      <vt:lpstr>6. ML Timing Prediction Workflow</vt:lpstr>
      <vt:lpstr>AST process simple example</vt:lpstr>
      <vt:lpstr>7. MasterRTL Framework Overview</vt:lpstr>
      <vt:lpstr>8. Simple Operator Graph (SOG)</vt:lpstr>
      <vt:lpstr>SOG</vt:lpstr>
      <vt:lpstr>How to use SOG for ML/AI models</vt:lpstr>
      <vt:lpstr>How to use SOG for ML/AI models</vt:lpstr>
      <vt:lpstr>How to use SOG for ML/AI models</vt:lpstr>
      <vt:lpstr>Comparison of AST&amp;SOG</vt:lpstr>
      <vt:lpstr>9. MasterRTL Performance</vt:lpstr>
      <vt:lpstr>10. Commercial EDA Tools</vt:lpstr>
      <vt:lpstr>11. Open-Source Tools</vt:lpstr>
      <vt:lpstr>12.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HA7085</cp:lastModifiedBy>
  <cp:revision>3</cp:revision>
  <dcterms:created xsi:type="dcterms:W3CDTF">2013-01-27T09:14:16Z</dcterms:created>
  <dcterms:modified xsi:type="dcterms:W3CDTF">2025-12-14T14:02:13Z</dcterms:modified>
  <cp:category/>
</cp:coreProperties>
</file>